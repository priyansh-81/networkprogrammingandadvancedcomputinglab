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65" r:id="rId8"/>
    <p:sldId id="259" r:id="rId9"/>
    <p:sldId id="260" r:id="rId10"/>
    <p:sldId id="261" r:id="rId11"/>
    <p:sldId id="266" r:id="rId12"/>
    <p:sldId id="26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A04B57-2EEC-2627-FAAF-BEEC9474F2B1}" v="4" dt="2026-04-06T13:29:44.4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 R DAS - 123108293 - MITMPL" userId="S::mayur.mitmpl2023@learner.manipal.edu::40fb6e1a-6fe1-467f-afe9-4f93dd23597d" providerId="AD" clId="Web-{41A04B57-2EEC-2627-FAAF-BEEC9474F2B1}"/>
    <pc:docChg chg="modSld">
      <pc:chgData name="MAYUR R DAS - 123108293 - MITMPL" userId="S::mayur.mitmpl2023@learner.manipal.edu::40fb6e1a-6fe1-467f-afe9-4f93dd23597d" providerId="AD" clId="Web-{41A04B57-2EEC-2627-FAAF-BEEC9474F2B1}" dt="2026-04-06T13:29:35.686" v="2" actId="20577"/>
      <pc:docMkLst>
        <pc:docMk/>
      </pc:docMkLst>
      <pc:sldChg chg="modSp">
        <pc:chgData name="MAYUR R DAS - 123108293 - MITMPL" userId="S::mayur.mitmpl2023@learner.manipal.edu::40fb6e1a-6fe1-467f-afe9-4f93dd23597d" providerId="AD" clId="Web-{41A04B57-2EEC-2627-FAAF-BEEC9474F2B1}" dt="2026-04-06T13:29:35.686" v="2" actId="20577"/>
        <pc:sldMkLst>
          <pc:docMk/>
          <pc:sldMk cId="2994788878" sldId="261"/>
        </pc:sldMkLst>
        <pc:spChg chg="mod">
          <ac:chgData name="MAYUR R DAS - 123108293 - MITMPL" userId="S::mayur.mitmpl2023@learner.manipal.edu::40fb6e1a-6fe1-467f-afe9-4f93dd23597d" providerId="AD" clId="Web-{41A04B57-2EEC-2627-FAAF-BEEC9474F2B1}" dt="2026-04-06T13:29:35.686" v="2" actId="20577"/>
          <ac:spMkLst>
            <pc:docMk/>
            <pc:sldMk cId="2994788878" sldId="261"/>
            <ac:spMk id="3" creationId="{00000000-0000-0000-0000-000000000000}"/>
          </ac:spMkLst>
        </pc:spChg>
      </pc:sldChg>
    </pc:docChg>
  </pc:docChgLst>
  <pc:docChgLst>
    <pc:chgData name="Saurabh Pandit Rathod - 123178306 - MITMPL" userId="S::saurabh2.mitmpl2023@learner.manipal.edu::ca145ba0-494c-4477-ae10-cbc6984b08db" providerId="AD" clId="Web-{10B857D5-8E4F-2974-985A-612D2B2F495A}"/>
    <pc:docChg chg="delSld">
      <pc:chgData name="Saurabh Pandit Rathod - 123178306 - MITMPL" userId="S::saurabh2.mitmpl2023@learner.manipal.edu::ca145ba0-494c-4477-ae10-cbc6984b08db" providerId="AD" clId="Web-{10B857D5-8E4F-2974-985A-612D2B2F495A}" dt="2026-03-19T03:47:13.951" v="0"/>
      <pc:docMkLst>
        <pc:docMk/>
      </pc:docMkLst>
    </pc:docChg>
  </pc:docChgLst>
  <pc:docChgLst>
    <pc:chgData name="Kshitij Singh - 123138180 - MITMPL" userId="S::kshitij2.mitmpl2023@learner.manipal.edu::6e43017d-5c29-4dda-9502-387a6a0b6f1d" providerId="AD" clId="Web-{6EDE648F-DC11-0DC0-74CD-DFB4C4DCA653}"/>
    <pc:docChg chg="modSld">
      <pc:chgData name="Kshitij Singh - 123138180 - MITMPL" userId="S::kshitij2.mitmpl2023@learner.manipal.edu::6e43017d-5c29-4dda-9502-387a6a0b6f1d" providerId="AD" clId="Web-{6EDE648F-DC11-0DC0-74CD-DFB4C4DCA653}" dt="2026-03-18T08:55:08.428" v="2" actId="20577"/>
      <pc:docMkLst>
        <pc:docMk/>
      </pc:docMkLst>
      <pc:sldChg chg="modSp">
        <pc:chgData name="Kshitij Singh - 123138180 - MITMPL" userId="S::kshitij2.mitmpl2023@learner.manipal.edu::6e43017d-5c29-4dda-9502-387a6a0b6f1d" providerId="AD" clId="Web-{6EDE648F-DC11-0DC0-74CD-DFB4C4DCA653}" dt="2026-03-18T08:55:08.428" v="2" actId="20577"/>
        <pc:sldMkLst>
          <pc:docMk/>
          <pc:sldMk cId="427467108" sldId="265"/>
        </pc:sldMkLst>
        <pc:spChg chg="mod">
          <ac:chgData name="Kshitij Singh - 123138180 - MITMPL" userId="S::kshitij2.mitmpl2023@learner.manipal.edu::6e43017d-5c29-4dda-9502-387a6a0b6f1d" providerId="AD" clId="Web-{6EDE648F-DC11-0DC0-74CD-DFB4C4DCA653}" dt="2026-03-18T08:55:08.428" v="2" actId="20577"/>
          <ac:spMkLst>
            <pc:docMk/>
            <pc:sldMk cId="427467108" sldId="265"/>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7F7E8E7-F266-4F49-B7B7-88B808723009}"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429520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7F7E8E7-F266-4F49-B7B7-88B808723009}"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4268737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7F7E8E7-F266-4F49-B7B7-88B808723009}"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591224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7F7E8E7-F266-4F49-B7B7-88B808723009}"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697978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7F7E8E7-F266-4F49-B7B7-88B808723009}"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209631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7F7E8E7-F266-4F49-B7B7-88B808723009}"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301340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F7E8E7-F266-4F49-B7B7-88B808723009}" type="datetimeFigureOut">
              <a:rPr lang="en-IN" smtClean="0"/>
              <a:t>06-04-2026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757671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F7E8E7-F266-4F49-B7B7-88B808723009}"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1773656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7F7E8E7-F266-4F49-B7B7-88B808723009}"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787951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7F7E8E7-F266-4F49-B7B7-88B808723009}"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3708601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7F7E8E7-F266-4F49-B7B7-88B808723009}"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37BA0C9-BA43-4E32-A3D3-E5E909002DCF}" type="slidenum">
              <a:rPr lang="en-IN" smtClean="0"/>
              <a:t>‹#›</a:t>
            </a:fld>
            <a:endParaRPr lang="en-IN"/>
          </a:p>
        </p:txBody>
      </p:sp>
    </p:spTree>
    <p:extLst>
      <p:ext uri="{BB962C8B-B14F-4D97-AF65-F5344CB8AC3E}">
        <p14:creationId xmlns:p14="http://schemas.microsoft.com/office/powerpoint/2010/main" val="4184667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1818" y="249215"/>
            <a:ext cx="11732653" cy="871247"/>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231819" y="1236372"/>
            <a:ext cx="11732653" cy="4940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cs typeface="Times New Roman" panose="02020603050405020304" pitchFamily="18" charset="0"/>
              </a:defRPr>
            </a:lvl1pPr>
          </a:lstStyle>
          <a:p>
            <a:fld id="{B7F7E8E7-F266-4F49-B7B7-88B808723009}" type="datetimeFigureOut">
              <a:rPr lang="en-IN" smtClean="0"/>
              <a:pPr/>
              <a:t>06-04-2026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cs typeface="Times New Roman" panose="02020603050405020304" pitchFamily="18" charset="0"/>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cs typeface="Times New Roman" panose="02020603050405020304" pitchFamily="18" charset="0"/>
              </a:defRPr>
            </a:lvl1pPr>
          </a:lstStyle>
          <a:p>
            <a:fld id="{137BA0C9-BA43-4E32-A3D3-E5E909002DCF}" type="slidenum">
              <a:rPr lang="en-IN" smtClean="0"/>
              <a:pPr/>
              <a:t>‹#›</a:t>
            </a:fld>
            <a:endParaRPr lang="en-IN"/>
          </a:p>
        </p:txBody>
      </p:sp>
    </p:spTree>
    <p:extLst>
      <p:ext uri="{BB962C8B-B14F-4D97-AF65-F5344CB8AC3E}">
        <p14:creationId xmlns:p14="http://schemas.microsoft.com/office/powerpoint/2010/main" val="1218213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400"/>
        </a:spcBef>
        <a:spcAft>
          <a:spcPts val="400"/>
        </a:spcAft>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400"/>
        </a:spcBef>
        <a:spcAft>
          <a:spcPts val="40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400"/>
        </a:spcBef>
        <a:spcAft>
          <a:spcPts val="400"/>
        </a:spcAft>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400"/>
        </a:spcBef>
        <a:spcAft>
          <a:spcPts val="400"/>
        </a:spcAft>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400"/>
        </a:spcBef>
        <a:spcAft>
          <a:spcPts val="400"/>
        </a:spcAft>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endParaRPr lang="en-IN"/>
          </a:p>
        </p:txBody>
      </p:sp>
      <p:sp>
        <p:nvSpPr>
          <p:cNvPr id="3" name="Subtitle 2"/>
          <p:cNvSpPr>
            <a:spLocks noGrp="1"/>
          </p:cNvSpPr>
          <p:nvPr>
            <p:ph type="subTitle" idx="1"/>
          </p:nvPr>
        </p:nvSpPr>
        <p:spPr/>
        <p:txBody>
          <a:bodyPr/>
          <a:lstStyle/>
          <a:p>
            <a:r>
              <a:rPr lang="en-US"/>
              <a:t>Prototyping the Network Model using</a:t>
            </a:r>
            <a:br>
              <a:rPr lang="en-US"/>
            </a:br>
            <a:r>
              <a:rPr lang="en-IN"/>
              <a:t>Packet Tracer</a:t>
            </a:r>
          </a:p>
        </p:txBody>
      </p:sp>
    </p:spTree>
    <p:extLst>
      <p:ext uri="{BB962C8B-B14F-4D97-AF65-F5344CB8AC3E}">
        <p14:creationId xmlns:p14="http://schemas.microsoft.com/office/powerpoint/2010/main" val="6478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Introduction</a:t>
            </a:r>
          </a:p>
        </p:txBody>
      </p:sp>
      <p:sp>
        <p:nvSpPr>
          <p:cNvPr id="3" name="Content Placeholder 2"/>
          <p:cNvSpPr>
            <a:spLocks noGrp="1"/>
          </p:cNvSpPr>
          <p:nvPr>
            <p:ph idx="1"/>
          </p:nvPr>
        </p:nvSpPr>
        <p:spPr>
          <a:xfrm>
            <a:off x="360218" y="1120462"/>
            <a:ext cx="11582400" cy="5056501"/>
          </a:xfrm>
        </p:spPr>
        <p:txBody>
          <a:bodyPr>
            <a:normAutofit/>
          </a:bodyPr>
          <a:lstStyle/>
          <a:p>
            <a:pPr algn="just"/>
            <a:r>
              <a:rPr lang="en-US" spc="-10"/>
              <a:t>Cisco </a:t>
            </a:r>
            <a:r>
              <a:rPr lang="en-US" spc="-195"/>
              <a:t>Packet </a:t>
            </a:r>
            <a:r>
              <a:rPr lang="en-US" spc="-100"/>
              <a:t>Tracer </a:t>
            </a:r>
            <a:r>
              <a:rPr lang="en-US" spc="-135"/>
              <a:t>is </a:t>
            </a:r>
            <a:r>
              <a:rPr lang="en-US" spc="-320"/>
              <a:t>a </a:t>
            </a:r>
            <a:r>
              <a:rPr lang="en-US" spc="-150"/>
              <a:t>powerful  </a:t>
            </a:r>
            <a:r>
              <a:rPr lang="en-US" spc="-95"/>
              <a:t>network </a:t>
            </a:r>
            <a:r>
              <a:rPr lang="en-US" spc="-170"/>
              <a:t>simulation </a:t>
            </a:r>
            <a:r>
              <a:rPr lang="en-US" spc="-120"/>
              <a:t>program </a:t>
            </a:r>
            <a:r>
              <a:rPr lang="en-US" spc="-220"/>
              <a:t>that </a:t>
            </a:r>
            <a:r>
              <a:rPr lang="en-US" spc="-150"/>
              <a:t>allows  students </a:t>
            </a:r>
            <a:r>
              <a:rPr lang="en-US" spc="-80"/>
              <a:t>to </a:t>
            </a:r>
            <a:r>
              <a:rPr lang="en-US" spc="-155"/>
              <a:t>experiment </a:t>
            </a:r>
            <a:r>
              <a:rPr lang="en-US" spc="-165"/>
              <a:t>with </a:t>
            </a:r>
            <a:r>
              <a:rPr lang="en-US" spc="-95"/>
              <a:t>network  </a:t>
            </a:r>
            <a:r>
              <a:rPr lang="en-US" spc="-145"/>
              <a:t>behavior.</a:t>
            </a:r>
          </a:p>
          <a:p>
            <a:pPr algn="just"/>
            <a:r>
              <a:rPr lang="en-IN"/>
              <a:t>Packet Tracer provides </a:t>
            </a:r>
            <a:r>
              <a:rPr lang="en-US"/>
              <a:t>simulation, visualization, authoring, assessment, and collaboration capabilities and facilitates the teaching and learning of complex technology concepts.</a:t>
            </a:r>
          </a:p>
          <a:p>
            <a:pPr algn="just"/>
            <a:r>
              <a:rPr lang="en-IN"/>
              <a:t>Students can build, </a:t>
            </a:r>
            <a:r>
              <a:rPr lang="en-US"/>
              <a:t>configure, and troubleshoot networks using virtual equipment and simulated connections.</a:t>
            </a:r>
            <a:endParaRPr lang="en-IN"/>
          </a:p>
        </p:txBody>
      </p:sp>
    </p:spTree>
    <p:extLst>
      <p:ext uri="{BB962C8B-B14F-4D97-AF65-F5344CB8AC3E}">
        <p14:creationId xmlns:p14="http://schemas.microsoft.com/office/powerpoint/2010/main" val="3169114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818" y="249215"/>
            <a:ext cx="5462399" cy="871247"/>
          </a:xfrm>
        </p:spPr>
        <p:txBody>
          <a:bodyPr/>
          <a:lstStyle/>
          <a:p>
            <a:r>
              <a:rPr lang="en-IN" sz="2400" b="1"/>
              <a:t>Interface overview</a:t>
            </a:r>
            <a:endParaRPr lang="en-IN" sz="2400"/>
          </a:p>
        </p:txBody>
      </p:sp>
      <p:pic>
        <p:nvPicPr>
          <p:cNvPr id="7" name="Content Placeholder 6"/>
          <p:cNvPicPr>
            <a:picLocks noGrp="1" noChangeAspect="1"/>
          </p:cNvPicPr>
          <p:nvPr>
            <p:ph sz="half" idx="1"/>
          </p:nvPr>
        </p:nvPicPr>
        <p:blipFill>
          <a:blip r:embed="rId2"/>
          <a:stretch>
            <a:fillRect/>
          </a:stretch>
        </p:blipFill>
        <p:spPr>
          <a:xfrm>
            <a:off x="207817" y="1302327"/>
            <a:ext cx="5347855" cy="4683057"/>
          </a:xfrm>
          <a:prstGeom prst="rect">
            <a:avLst/>
          </a:prstGeom>
        </p:spPr>
      </p:pic>
      <p:sp>
        <p:nvSpPr>
          <p:cNvPr id="6" name="Content Placeholder 5"/>
          <p:cNvSpPr>
            <a:spLocks noGrp="1"/>
          </p:cNvSpPr>
          <p:nvPr>
            <p:ph sz="half" idx="2"/>
          </p:nvPr>
        </p:nvSpPr>
        <p:spPr>
          <a:xfrm>
            <a:off x="5694217" y="498764"/>
            <a:ext cx="6289965" cy="6982691"/>
          </a:xfrm>
        </p:spPr>
        <p:txBody>
          <a:bodyPr>
            <a:noAutofit/>
          </a:bodyPr>
          <a:lstStyle/>
          <a:p>
            <a:pPr algn="just"/>
            <a:r>
              <a:rPr lang="en-US" sz="2200" b="1">
                <a:solidFill>
                  <a:schemeClr val="accent2"/>
                </a:solidFill>
              </a:rPr>
              <a:t>Area 1</a:t>
            </a:r>
            <a:r>
              <a:rPr lang="en-US" sz="2200" b="1"/>
              <a:t>: Menu bar </a:t>
            </a:r>
            <a:r>
              <a:rPr lang="en-US" sz="2200"/>
              <a:t>– This is a common menu found in all software applications; it is used to open, save, print, change preferences, and so on. </a:t>
            </a:r>
          </a:p>
          <a:p>
            <a:pPr algn="just"/>
            <a:r>
              <a:rPr lang="en-US" sz="2200" b="1">
                <a:solidFill>
                  <a:schemeClr val="accent2"/>
                </a:solidFill>
              </a:rPr>
              <a:t>Area 2: </a:t>
            </a:r>
            <a:r>
              <a:rPr lang="en-US" sz="2200" b="1"/>
              <a:t>Main toolbar </a:t>
            </a:r>
            <a:r>
              <a:rPr lang="en-US" sz="2200"/>
              <a:t>– This bar provides shortcut icons to menu options that are commonly accessed, such as open, save, zoom, undo, and redo, and on the right-hand side is an icon for entering network information for the current network. </a:t>
            </a:r>
          </a:p>
          <a:p>
            <a:pPr algn="just"/>
            <a:r>
              <a:rPr lang="en-US" sz="2200" b="1">
                <a:solidFill>
                  <a:schemeClr val="accent2"/>
                </a:solidFill>
              </a:rPr>
              <a:t>Area 3: </a:t>
            </a:r>
            <a:r>
              <a:rPr lang="en-US" sz="2200" b="1"/>
              <a:t>Logical/Physical workspace tabs </a:t>
            </a:r>
            <a:r>
              <a:rPr lang="en-US" sz="2200"/>
              <a:t>– These tabs allow you to toggle between the </a:t>
            </a:r>
            <a:r>
              <a:rPr lang="en-US" sz="2200" b="1"/>
              <a:t>Logical </a:t>
            </a:r>
            <a:r>
              <a:rPr lang="en-US" sz="2200"/>
              <a:t>and </a:t>
            </a:r>
            <a:r>
              <a:rPr lang="en-US" sz="2200" b="1"/>
              <a:t>Physical </a:t>
            </a:r>
            <a:r>
              <a:rPr lang="en-US" sz="2200"/>
              <a:t>work areas. </a:t>
            </a:r>
          </a:p>
          <a:p>
            <a:pPr algn="just"/>
            <a:r>
              <a:rPr lang="en-US" sz="2200"/>
              <a:t> </a:t>
            </a:r>
            <a:r>
              <a:rPr lang="en-US" sz="2200" b="1">
                <a:solidFill>
                  <a:schemeClr val="accent2"/>
                </a:solidFill>
              </a:rPr>
              <a:t>Area 4: </a:t>
            </a:r>
            <a:r>
              <a:rPr lang="en-US" sz="2200" b="1"/>
              <a:t>Workspace </a:t>
            </a:r>
            <a:r>
              <a:rPr lang="en-US" sz="2200"/>
              <a:t>– This is the area where topologies are created and simulations are displayed. </a:t>
            </a:r>
          </a:p>
          <a:p>
            <a:pPr algn="just"/>
            <a:r>
              <a:rPr lang="en-US" sz="2200" b="1">
                <a:solidFill>
                  <a:schemeClr val="accent2"/>
                </a:solidFill>
              </a:rPr>
              <a:t>Area 5: </a:t>
            </a:r>
            <a:r>
              <a:rPr lang="en-US" sz="2200" b="1"/>
              <a:t>Common tools bar </a:t>
            </a:r>
            <a:r>
              <a:rPr lang="en-US" sz="2200"/>
              <a:t>– This toolbar provides controls for manipulating topologies, such as select, move layout, place note, delete, inspect, resize shape, and add simple/complex PDU. </a:t>
            </a:r>
          </a:p>
          <a:p>
            <a:pPr algn="just"/>
            <a:endParaRPr lang="en-IN" sz="2400"/>
          </a:p>
        </p:txBody>
      </p:sp>
    </p:spTree>
    <p:extLst>
      <p:ext uri="{BB962C8B-B14F-4D97-AF65-F5344CB8AC3E}">
        <p14:creationId xmlns:p14="http://schemas.microsoft.com/office/powerpoint/2010/main" val="2621215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a:t>Contd..</a:t>
            </a:r>
            <a:endParaRPr lang="en-IN" sz="2400"/>
          </a:p>
        </p:txBody>
      </p:sp>
      <p:sp>
        <p:nvSpPr>
          <p:cNvPr id="3" name="Content Placeholder 2"/>
          <p:cNvSpPr>
            <a:spLocks noGrp="1"/>
          </p:cNvSpPr>
          <p:nvPr>
            <p:ph idx="1"/>
          </p:nvPr>
        </p:nvSpPr>
        <p:spPr>
          <a:xfrm>
            <a:off x="231817" y="1302327"/>
            <a:ext cx="11732653" cy="4874636"/>
          </a:xfrm>
        </p:spPr>
        <p:txBody>
          <a:bodyPr vert="horz" lIns="91440" tIns="45720" rIns="91440" bIns="45720" rtlCol="0" anchor="t">
            <a:normAutofit/>
          </a:bodyPr>
          <a:lstStyle/>
          <a:p>
            <a:pPr>
              <a:spcBef>
                <a:spcPts val="600"/>
              </a:spcBef>
              <a:spcAft>
                <a:spcPts val="600"/>
              </a:spcAft>
            </a:pPr>
            <a:r>
              <a:rPr lang="en-US" sz="2400" b="1">
                <a:solidFill>
                  <a:schemeClr val="accent2"/>
                </a:solidFill>
                <a:latin typeface="Times New Roman"/>
                <a:cs typeface="Times New Roman"/>
              </a:rPr>
              <a:t>Area 6: </a:t>
            </a:r>
            <a:r>
              <a:rPr lang="en-US" sz="2400" b="1" err="1">
                <a:latin typeface="Times New Roman"/>
                <a:cs typeface="Times New Roman"/>
              </a:rPr>
              <a:t>Realtime</a:t>
            </a:r>
            <a:r>
              <a:rPr lang="en-US" sz="2400" b="1">
                <a:latin typeface="Times New Roman"/>
                <a:cs typeface="Times New Roman"/>
              </a:rPr>
              <a:t>/Simulation tabs </a:t>
            </a:r>
            <a:r>
              <a:rPr lang="en-US" sz="2400">
                <a:latin typeface="Times New Roman"/>
                <a:cs typeface="Times New Roman"/>
              </a:rPr>
              <a:t>– These tabs are used to toggle between the real and simulation modes. Buttons are also provided to control the time, and to capture the packets. </a:t>
            </a:r>
          </a:p>
          <a:p>
            <a:pPr>
              <a:spcBef>
                <a:spcPts val="600"/>
              </a:spcBef>
              <a:spcAft>
                <a:spcPts val="600"/>
              </a:spcAft>
            </a:pPr>
            <a:r>
              <a:rPr lang="en-US" sz="2400" b="1">
                <a:solidFill>
                  <a:schemeClr val="accent2"/>
                </a:solidFill>
                <a:latin typeface="Times New Roman"/>
                <a:cs typeface="Times New Roman"/>
              </a:rPr>
              <a:t>Area 7: </a:t>
            </a:r>
            <a:r>
              <a:rPr lang="en-US" sz="2400" b="1">
                <a:latin typeface="Times New Roman"/>
                <a:cs typeface="Times New Roman"/>
              </a:rPr>
              <a:t>Network component box </a:t>
            </a:r>
            <a:r>
              <a:rPr lang="en-US" sz="2400">
                <a:latin typeface="Times New Roman"/>
                <a:cs typeface="Times New Roman"/>
              </a:rPr>
              <a:t>– This component contains all of the network and end devices available with Packet Tracer, and is further divided into two areas: </a:t>
            </a:r>
          </a:p>
          <a:p>
            <a:pPr lvl="1">
              <a:spcBef>
                <a:spcPts val="600"/>
              </a:spcBef>
              <a:spcAft>
                <a:spcPts val="600"/>
              </a:spcAft>
            </a:pPr>
            <a:r>
              <a:rPr lang="en-US" sz="2200" b="1">
                <a:latin typeface="Times New Roman"/>
                <a:cs typeface="Times New Roman"/>
              </a:rPr>
              <a:t>Area 7a: Device-type selection box </a:t>
            </a:r>
            <a:r>
              <a:rPr lang="en-US" sz="2200">
                <a:latin typeface="Times New Roman"/>
                <a:cs typeface="Times New Roman"/>
              </a:rPr>
              <a:t>– This area contains device categories </a:t>
            </a:r>
          </a:p>
          <a:p>
            <a:pPr lvl="1">
              <a:spcBef>
                <a:spcPts val="600"/>
              </a:spcBef>
              <a:spcAft>
                <a:spcPts val="600"/>
              </a:spcAft>
            </a:pPr>
            <a:r>
              <a:rPr lang="en-US" sz="2200" b="1"/>
              <a:t>Area 7b: Device-specific selection box </a:t>
            </a:r>
            <a:r>
              <a:rPr lang="en-US" sz="2200"/>
              <a:t>– When a device category is selected, this selection box displays the different device models within that category </a:t>
            </a:r>
            <a:endParaRPr lang="en-IN" sz="2200"/>
          </a:p>
          <a:p>
            <a:pPr>
              <a:spcBef>
                <a:spcPts val="600"/>
              </a:spcBef>
              <a:spcAft>
                <a:spcPts val="600"/>
              </a:spcAft>
            </a:pPr>
            <a:r>
              <a:rPr lang="en-US" sz="2400" b="1">
                <a:solidFill>
                  <a:schemeClr val="accent2"/>
                </a:solidFill>
              </a:rPr>
              <a:t>Area 8: </a:t>
            </a:r>
            <a:r>
              <a:rPr lang="en-US" sz="2400" b="1"/>
              <a:t>User-created packet box </a:t>
            </a:r>
            <a:r>
              <a:rPr lang="en-US" sz="2400"/>
              <a:t>– Users can create highly-customized packets to test their topology from this area, and the results are displayed as a list. </a:t>
            </a:r>
          </a:p>
          <a:p>
            <a:pPr>
              <a:spcBef>
                <a:spcPts val="600"/>
              </a:spcBef>
              <a:spcAft>
                <a:spcPts val="600"/>
              </a:spcAft>
            </a:pPr>
            <a:endParaRPr lang="en-IN" sz="2400"/>
          </a:p>
        </p:txBody>
      </p:sp>
    </p:spTree>
    <p:extLst>
      <p:ext uri="{BB962C8B-B14F-4D97-AF65-F5344CB8AC3E}">
        <p14:creationId xmlns:p14="http://schemas.microsoft.com/office/powerpoint/2010/main" val="427467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a:t>Packet Tracer Modes</a:t>
            </a:r>
          </a:p>
        </p:txBody>
      </p:sp>
      <p:sp>
        <p:nvSpPr>
          <p:cNvPr id="6" name="Content Placeholder 5"/>
          <p:cNvSpPr>
            <a:spLocks noGrp="1"/>
          </p:cNvSpPr>
          <p:nvPr>
            <p:ph idx="1"/>
          </p:nvPr>
        </p:nvSpPr>
        <p:spPr>
          <a:xfrm>
            <a:off x="231817" y="1120462"/>
            <a:ext cx="11732653" cy="5056501"/>
          </a:xfrm>
        </p:spPr>
        <p:txBody>
          <a:bodyPr>
            <a:normAutofit/>
          </a:bodyPr>
          <a:lstStyle/>
          <a:p>
            <a:pPr algn="just"/>
            <a:r>
              <a:rPr lang="en-US"/>
              <a:t>Cisco Packet Tracer provides two operating modes to visualize the behavior of a network</a:t>
            </a:r>
          </a:p>
          <a:p>
            <a:pPr lvl="1" algn="just"/>
            <a:r>
              <a:rPr lang="en-US"/>
              <a:t>Real-time mode </a:t>
            </a:r>
          </a:p>
          <a:p>
            <a:pPr lvl="1" algn="just"/>
            <a:r>
              <a:rPr lang="en-US"/>
              <a:t>Simulation mode</a:t>
            </a:r>
            <a:endParaRPr lang="en-IN"/>
          </a:p>
          <a:p>
            <a:pPr algn="just"/>
            <a:r>
              <a:rPr lang="en-IN"/>
              <a:t>The </a:t>
            </a:r>
            <a:r>
              <a:rPr lang="en-US">
                <a:solidFill>
                  <a:srgbClr val="FF0000"/>
                </a:solidFill>
              </a:rPr>
              <a:t>real-time mode </a:t>
            </a:r>
            <a:r>
              <a:rPr lang="en-US"/>
              <a:t>gives a viable alternative to real equipment and allows them to gain configuration practice before working with real equipment.</a:t>
            </a:r>
          </a:p>
          <a:p>
            <a:pPr algn="just"/>
            <a:r>
              <a:rPr lang="en-IN"/>
              <a:t>In </a:t>
            </a:r>
            <a:r>
              <a:rPr lang="en-IN">
                <a:solidFill>
                  <a:srgbClr val="FF0000"/>
                </a:solidFill>
              </a:rPr>
              <a:t>simulation mode </a:t>
            </a:r>
            <a:r>
              <a:rPr lang="en-IN"/>
              <a:t>the </a:t>
            </a:r>
            <a:r>
              <a:rPr lang="en-US"/>
              <a:t>user can see and control time intervals, the inner workings of data transfer, and the propagation of data across a network.</a:t>
            </a:r>
          </a:p>
        </p:txBody>
      </p:sp>
    </p:spTree>
    <p:extLst>
      <p:ext uri="{BB962C8B-B14F-4D97-AF65-F5344CB8AC3E}">
        <p14:creationId xmlns:p14="http://schemas.microsoft.com/office/powerpoint/2010/main" val="3137083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690" y="475962"/>
            <a:ext cx="10515600" cy="1325563"/>
          </a:xfrm>
        </p:spPr>
        <p:txBody>
          <a:bodyPr/>
          <a:lstStyle/>
          <a:p>
            <a:r>
              <a:rPr lang="en-US"/>
              <a:t>Protocols supported:</a:t>
            </a:r>
            <a:endParaRPr lang="en-IN"/>
          </a:p>
        </p:txBody>
      </p:sp>
      <p:pic>
        <p:nvPicPr>
          <p:cNvPr id="4" name="Content Placeholder 3"/>
          <p:cNvPicPr>
            <a:picLocks noGrp="1" noChangeAspect="1"/>
          </p:cNvPicPr>
          <p:nvPr>
            <p:ph idx="1"/>
          </p:nvPr>
        </p:nvPicPr>
        <p:blipFill>
          <a:blip r:embed="rId2"/>
          <a:stretch>
            <a:fillRect/>
          </a:stretch>
        </p:blipFill>
        <p:spPr>
          <a:xfrm>
            <a:off x="1731818" y="1801092"/>
            <a:ext cx="8825345" cy="3851564"/>
          </a:xfrm>
          <a:prstGeom prst="rect">
            <a:avLst/>
          </a:prstGeom>
        </p:spPr>
      </p:pic>
    </p:spTree>
    <p:extLst>
      <p:ext uri="{BB962C8B-B14F-4D97-AF65-F5344CB8AC3E}">
        <p14:creationId xmlns:p14="http://schemas.microsoft.com/office/powerpoint/2010/main" val="166036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6038"/>
            <a:ext cx="10515600" cy="937636"/>
          </a:xfrm>
        </p:spPr>
        <p:txBody>
          <a:bodyPr/>
          <a:lstStyle/>
          <a:p>
            <a:r>
              <a:rPr lang="en-IN" b="1"/>
              <a:t>Cisco devices and Packet Tracer devices</a:t>
            </a:r>
            <a:endParaRPr lang="en-IN"/>
          </a:p>
        </p:txBody>
      </p:sp>
      <p:sp>
        <p:nvSpPr>
          <p:cNvPr id="3" name="Content Placeholder 2"/>
          <p:cNvSpPr>
            <a:spLocks noGrp="1"/>
          </p:cNvSpPr>
          <p:nvPr>
            <p:ph idx="1"/>
          </p:nvPr>
        </p:nvSpPr>
        <p:spPr>
          <a:xfrm>
            <a:off x="249381" y="983673"/>
            <a:ext cx="11720945" cy="5624945"/>
          </a:xfrm>
        </p:spPr>
        <p:txBody>
          <a:bodyPr vert="horz" lIns="91440" tIns="45720" rIns="91440" bIns="45720" rtlCol="0" anchor="t">
            <a:normAutofit/>
          </a:bodyPr>
          <a:lstStyle/>
          <a:p>
            <a:pPr marL="0" indent="0">
              <a:spcBef>
                <a:spcPts val="600"/>
              </a:spcBef>
              <a:spcAft>
                <a:spcPts val="600"/>
              </a:spcAft>
              <a:buNone/>
            </a:pPr>
            <a:r>
              <a:rPr lang="en-US" sz="2400"/>
              <a:t>The following </a:t>
            </a:r>
            <a:r>
              <a:rPr lang="en-US" sz="2400">
                <a:solidFill>
                  <a:schemeClr val="accent2"/>
                </a:solidFill>
              </a:rPr>
              <a:t>routers</a:t>
            </a:r>
            <a:r>
              <a:rPr lang="en-US" sz="2400"/>
              <a:t> are available in Packet Tracer: </a:t>
            </a:r>
          </a:p>
          <a:p>
            <a:pPr>
              <a:spcBef>
                <a:spcPts val="600"/>
              </a:spcBef>
              <a:spcAft>
                <a:spcPts val="600"/>
              </a:spcAft>
            </a:pPr>
            <a:r>
              <a:rPr lang="en-US" sz="2400" b="1" dirty="0">
                <a:latin typeface="Times New Roman"/>
                <a:cs typeface="Times New Roman"/>
              </a:rPr>
              <a:t>Cisco 1841</a:t>
            </a:r>
            <a:r>
              <a:rPr lang="en-US" sz="2400" dirty="0">
                <a:latin typeface="Times New Roman"/>
                <a:cs typeface="Times New Roman"/>
              </a:rPr>
              <a:t>: This is an </a:t>
            </a:r>
            <a:r>
              <a:rPr lang="en-US" sz="2400" b="1" dirty="0">
                <a:latin typeface="Times New Roman"/>
                <a:cs typeface="Times New Roman"/>
              </a:rPr>
              <a:t>Integrated Service Router </a:t>
            </a:r>
            <a:r>
              <a:rPr lang="en-US" sz="2400" dirty="0">
                <a:latin typeface="Times New Roman"/>
                <a:cs typeface="Times New Roman"/>
              </a:rPr>
              <a:t>(</a:t>
            </a:r>
            <a:r>
              <a:rPr lang="en-US" sz="2400" b="1" dirty="0">
                <a:latin typeface="Times New Roman"/>
                <a:cs typeface="Times New Roman"/>
              </a:rPr>
              <a:t>ISR</a:t>
            </a:r>
            <a:r>
              <a:rPr lang="en-US" sz="2400" dirty="0">
                <a:latin typeface="Times New Roman"/>
                <a:cs typeface="Times New Roman"/>
              </a:rPr>
              <a:t>) having two Fast Ethernet ports, two slots for </a:t>
            </a:r>
            <a:r>
              <a:rPr lang="en-US" sz="2400" b="1" dirty="0">
                <a:latin typeface="Times New Roman"/>
                <a:cs typeface="Times New Roman"/>
              </a:rPr>
              <a:t>High Speed WAN Interface Cards </a:t>
            </a:r>
            <a:r>
              <a:rPr lang="en-US" sz="2400" dirty="0">
                <a:latin typeface="Times New Roman"/>
                <a:cs typeface="Times New Roman"/>
              </a:rPr>
              <a:t>(</a:t>
            </a:r>
            <a:r>
              <a:rPr lang="en-US" sz="2400" b="1" dirty="0">
                <a:latin typeface="Times New Roman"/>
                <a:cs typeface="Times New Roman"/>
              </a:rPr>
              <a:t>HWICs</a:t>
            </a:r>
            <a:r>
              <a:rPr lang="en-US" sz="2400" dirty="0">
                <a:latin typeface="Times New Roman"/>
                <a:cs typeface="Times New Roman"/>
              </a:rPr>
              <a:t>), and one slot for </a:t>
            </a:r>
            <a:r>
              <a:rPr lang="en-US" sz="2400" b="1" dirty="0">
                <a:latin typeface="Times New Roman"/>
                <a:cs typeface="Times New Roman"/>
              </a:rPr>
              <a:t>Advanced Integration Module </a:t>
            </a:r>
            <a:r>
              <a:rPr lang="en-US" sz="2400" dirty="0">
                <a:latin typeface="Times New Roman"/>
                <a:cs typeface="Times New Roman"/>
              </a:rPr>
              <a:t>(</a:t>
            </a:r>
            <a:r>
              <a:rPr lang="en-US" sz="2400" b="1" dirty="0">
                <a:latin typeface="Times New Roman"/>
                <a:cs typeface="Times New Roman"/>
              </a:rPr>
              <a:t>AIM</a:t>
            </a:r>
            <a:r>
              <a:rPr lang="en-US" sz="2400" dirty="0">
                <a:latin typeface="Times New Roman"/>
                <a:cs typeface="Times New Roman"/>
              </a:rPr>
              <a:t>) </a:t>
            </a:r>
          </a:p>
          <a:p>
            <a:pPr>
              <a:spcBef>
                <a:spcPts val="600"/>
              </a:spcBef>
              <a:spcAft>
                <a:spcPts val="600"/>
              </a:spcAft>
            </a:pPr>
            <a:r>
              <a:rPr lang="en-US" sz="2400" b="1" dirty="0">
                <a:latin typeface="Times New Roman"/>
                <a:cs typeface="Times New Roman"/>
              </a:rPr>
              <a:t>Cisco 1941</a:t>
            </a:r>
            <a:r>
              <a:rPr lang="en-US" sz="2400" dirty="0">
                <a:latin typeface="Times New Roman"/>
                <a:cs typeface="Times New Roman"/>
              </a:rPr>
              <a:t>: This is similar to the previous model but runs on Cisco IOS Version 15. It has two ports that operate at Gigabit Ethernet speeds. </a:t>
            </a:r>
          </a:p>
          <a:p>
            <a:pPr>
              <a:spcBef>
                <a:spcPts val="600"/>
              </a:spcBef>
              <a:spcAft>
                <a:spcPts val="600"/>
              </a:spcAft>
            </a:pPr>
            <a:r>
              <a:rPr lang="en-US" sz="2400" b="1"/>
              <a:t>Cisco 2620XM</a:t>
            </a:r>
            <a:r>
              <a:rPr lang="en-US" sz="2400"/>
              <a:t>: This is a multiservice router with one Fast Ethernet port, two slots for WAN Interface cards, and one slot for AIM. </a:t>
            </a:r>
          </a:p>
          <a:p>
            <a:pPr>
              <a:spcBef>
                <a:spcPts val="600"/>
              </a:spcBef>
              <a:spcAft>
                <a:spcPts val="600"/>
              </a:spcAft>
            </a:pPr>
            <a:r>
              <a:rPr lang="en-US" sz="2400" b="1" dirty="0">
                <a:latin typeface="Times New Roman"/>
                <a:cs typeface="Times New Roman"/>
              </a:rPr>
              <a:t>Cisco 2621XM</a:t>
            </a:r>
            <a:r>
              <a:rPr lang="en-US" sz="2400" dirty="0">
                <a:latin typeface="Times New Roman"/>
                <a:cs typeface="Times New Roman"/>
              </a:rPr>
              <a:t>: This is similar to the previous model, except that this router has two Fast Ethernet ports. </a:t>
            </a:r>
          </a:p>
        </p:txBody>
      </p:sp>
    </p:spTree>
    <p:extLst>
      <p:ext uri="{BB962C8B-B14F-4D97-AF65-F5344CB8AC3E}">
        <p14:creationId xmlns:p14="http://schemas.microsoft.com/office/powerpoint/2010/main" val="299478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endParaRPr lang="en-IN"/>
          </a:p>
        </p:txBody>
      </p:sp>
      <p:sp>
        <p:nvSpPr>
          <p:cNvPr id="3" name="Content Placeholder 2"/>
          <p:cNvSpPr>
            <a:spLocks noGrp="1"/>
          </p:cNvSpPr>
          <p:nvPr>
            <p:ph idx="1"/>
          </p:nvPr>
        </p:nvSpPr>
        <p:spPr>
          <a:xfrm>
            <a:off x="231817" y="1260764"/>
            <a:ext cx="11732653" cy="4902344"/>
          </a:xfrm>
        </p:spPr>
        <p:txBody>
          <a:bodyPr/>
          <a:lstStyle/>
          <a:p>
            <a:pPr>
              <a:spcBef>
                <a:spcPts val="600"/>
              </a:spcBef>
              <a:spcAft>
                <a:spcPts val="600"/>
              </a:spcAft>
            </a:pPr>
            <a:r>
              <a:rPr lang="en-US" sz="2400" b="1"/>
              <a:t>Cisco 2811</a:t>
            </a:r>
            <a:r>
              <a:rPr lang="en-US" sz="2400"/>
              <a:t>: This ISR comes with two Fast Ethernet ports, four WIC slots, and a dual slot for AIM. </a:t>
            </a:r>
          </a:p>
          <a:p>
            <a:pPr>
              <a:spcBef>
                <a:spcPts val="600"/>
              </a:spcBef>
              <a:spcAft>
                <a:spcPts val="600"/>
              </a:spcAft>
            </a:pPr>
            <a:r>
              <a:rPr lang="en-US" sz="2400" b="1"/>
              <a:t>Cisco 2901</a:t>
            </a:r>
            <a:r>
              <a:rPr lang="en-US" sz="2400"/>
              <a:t>: This router has two Gigabit Ethernet ports, four WIC slots, and two </a:t>
            </a:r>
            <a:r>
              <a:rPr lang="en-US" sz="2400" b="1"/>
              <a:t>Digital Signal Processor </a:t>
            </a:r>
            <a:r>
              <a:rPr lang="en-US" sz="2400"/>
              <a:t>(</a:t>
            </a:r>
            <a:r>
              <a:rPr lang="en-US" sz="2400" b="1"/>
              <a:t>DSP</a:t>
            </a:r>
            <a:r>
              <a:rPr lang="en-US" sz="2400"/>
              <a:t>) slots. This router uses Cisco IOS Version 15. </a:t>
            </a:r>
          </a:p>
          <a:p>
            <a:pPr>
              <a:spcBef>
                <a:spcPts val="600"/>
              </a:spcBef>
              <a:spcAft>
                <a:spcPts val="600"/>
              </a:spcAft>
            </a:pPr>
            <a:r>
              <a:rPr lang="en-US" sz="2400" b="1"/>
              <a:t>Cisco 2911</a:t>
            </a:r>
            <a:r>
              <a:rPr lang="en-US" sz="2400"/>
              <a:t>: This router has three Gigabit Ethernet ports and all the other features of the previous router. It runs on IOS Version 15. </a:t>
            </a:r>
          </a:p>
          <a:p>
            <a:pPr>
              <a:spcBef>
                <a:spcPts val="600"/>
              </a:spcBef>
              <a:spcAft>
                <a:spcPts val="600"/>
              </a:spcAft>
            </a:pPr>
            <a:r>
              <a:rPr lang="en-US" sz="2400" b="1"/>
              <a:t>Generic Router-PT</a:t>
            </a:r>
            <a:r>
              <a:rPr lang="en-US" sz="2400"/>
              <a:t>: This is a custom router running on Cisco IOS. It contains 10 slots and has separate modules with a naming convention beginning with </a:t>
            </a:r>
            <a:r>
              <a:rPr lang="en-US" sz="2400" b="1"/>
              <a:t>PT</a:t>
            </a:r>
            <a:r>
              <a:rPr lang="en-US" sz="2400"/>
              <a:t>. </a:t>
            </a:r>
          </a:p>
          <a:p>
            <a:endParaRPr lang="en-IN"/>
          </a:p>
        </p:txBody>
      </p:sp>
    </p:spTree>
    <p:extLst>
      <p:ext uri="{BB962C8B-B14F-4D97-AF65-F5344CB8AC3E}">
        <p14:creationId xmlns:p14="http://schemas.microsoft.com/office/powerpoint/2010/main" val="1157572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9382" y="221674"/>
            <a:ext cx="11693236" cy="6414654"/>
          </a:xfrm>
        </p:spPr>
        <p:txBody>
          <a:bodyPr>
            <a:normAutofit/>
          </a:bodyPr>
          <a:lstStyle/>
          <a:p>
            <a:pPr marL="0" indent="0">
              <a:spcBef>
                <a:spcPts val="600"/>
              </a:spcBef>
              <a:spcAft>
                <a:spcPts val="600"/>
              </a:spcAft>
              <a:buNone/>
            </a:pPr>
            <a:r>
              <a:rPr lang="en-US" sz="2400"/>
              <a:t>The following </a:t>
            </a:r>
            <a:r>
              <a:rPr lang="en-US" sz="2400">
                <a:solidFill>
                  <a:schemeClr val="accent2"/>
                </a:solidFill>
              </a:rPr>
              <a:t>switches</a:t>
            </a:r>
            <a:r>
              <a:rPr lang="en-US" sz="2400"/>
              <a:t> are available in Packet Tracer: </a:t>
            </a:r>
            <a:endParaRPr lang="en-IN" sz="2400"/>
          </a:p>
          <a:p>
            <a:pPr>
              <a:spcBef>
                <a:spcPts val="600"/>
              </a:spcBef>
              <a:spcAft>
                <a:spcPts val="600"/>
              </a:spcAft>
            </a:pPr>
            <a:r>
              <a:rPr lang="en-US" sz="2400" b="1"/>
              <a:t>Cisco 2950-24</a:t>
            </a:r>
            <a:r>
              <a:rPr lang="en-US" sz="2400"/>
              <a:t>: This managed switch comes with 24 Fast Ethernet ports. </a:t>
            </a:r>
          </a:p>
          <a:p>
            <a:pPr>
              <a:spcBef>
                <a:spcPts val="600"/>
              </a:spcBef>
              <a:spcAft>
                <a:spcPts val="600"/>
              </a:spcAft>
            </a:pPr>
            <a:r>
              <a:rPr lang="en-US" sz="2400" b="1"/>
              <a:t>Cisco 2950T-24</a:t>
            </a:r>
            <a:r>
              <a:rPr lang="en-US" sz="2400"/>
              <a:t>: This switch is a member of the Catalyst 2590 Intelligent Switch family and has two Gigabit Ethernet ports in addition to the 24 Fast Ethernet ports. </a:t>
            </a:r>
          </a:p>
          <a:p>
            <a:pPr>
              <a:spcBef>
                <a:spcPts val="600"/>
              </a:spcBef>
              <a:spcAft>
                <a:spcPts val="600"/>
              </a:spcAft>
            </a:pPr>
            <a:r>
              <a:rPr lang="en-US" sz="2400" b="1"/>
              <a:t>Cisco 2960-24TT</a:t>
            </a:r>
            <a:r>
              <a:rPr lang="en-US" sz="2400"/>
              <a:t>: This is another 24 port switch; </a:t>
            </a:r>
          </a:p>
          <a:p>
            <a:pPr>
              <a:spcBef>
                <a:spcPts val="600"/>
              </a:spcBef>
              <a:spcAft>
                <a:spcPts val="600"/>
              </a:spcAft>
            </a:pPr>
            <a:r>
              <a:rPr lang="en-US" sz="2400" b="1"/>
              <a:t>Cisco 3560-24PS</a:t>
            </a:r>
            <a:r>
              <a:rPr lang="en-US" sz="2400"/>
              <a:t>: This switch is different from the others because it is a layer 3 switch that can be used to perform routing in addition to switching. </a:t>
            </a:r>
          </a:p>
          <a:p>
            <a:pPr>
              <a:spcBef>
                <a:spcPts val="600"/>
              </a:spcBef>
              <a:spcAft>
                <a:spcPts val="600"/>
              </a:spcAft>
            </a:pPr>
            <a:r>
              <a:rPr lang="en-US" sz="2400" b="1"/>
              <a:t>Bridge PT</a:t>
            </a:r>
            <a:r>
              <a:rPr lang="en-US" sz="2400"/>
              <a:t>: This is a device used to segment a network and it has only two ports (which is why it is a bridge; if it had more, it'd be called a switch). </a:t>
            </a:r>
          </a:p>
          <a:p>
            <a:pPr>
              <a:spcBef>
                <a:spcPts val="600"/>
              </a:spcBef>
              <a:spcAft>
                <a:spcPts val="600"/>
              </a:spcAft>
            </a:pPr>
            <a:r>
              <a:rPr lang="en-US" sz="2400" b="1"/>
              <a:t>Generic Switch PT</a:t>
            </a:r>
            <a:r>
              <a:rPr lang="en-US" sz="2400"/>
              <a:t>: This is a Packet-Tracer-designed switch running on Cisco IOS. This is the only customizable switch with 10 slots and several modules. </a:t>
            </a:r>
          </a:p>
        </p:txBody>
      </p:sp>
    </p:spTree>
    <p:extLst>
      <p:ext uri="{BB962C8B-B14F-4D97-AF65-F5344CB8AC3E}">
        <p14:creationId xmlns:p14="http://schemas.microsoft.com/office/powerpoint/2010/main" val="2909247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a:t>Connecting devices</a:t>
            </a:r>
            <a:endParaRPr lang="en-IN"/>
          </a:p>
        </p:txBody>
      </p:sp>
      <p:sp>
        <p:nvSpPr>
          <p:cNvPr id="3" name="Content Placeholder 2"/>
          <p:cNvSpPr>
            <a:spLocks noGrp="1"/>
          </p:cNvSpPr>
          <p:nvPr>
            <p:ph idx="1"/>
          </p:nvPr>
        </p:nvSpPr>
        <p:spPr>
          <a:xfrm>
            <a:off x="231817" y="1120462"/>
            <a:ext cx="11732653" cy="5391174"/>
          </a:xfrm>
        </p:spPr>
        <p:txBody>
          <a:bodyPr>
            <a:normAutofit/>
          </a:bodyPr>
          <a:lstStyle/>
          <a:p>
            <a:pPr>
              <a:spcBef>
                <a:spcPts val="600"/>
              </a:spcBef>
              <a:spcAft>
                <a:spcPts val="600"/>
              </a:spcAft>
            </a:pPr>
            <a:r>
              <a:rPr lang="en-US" sz="2400" b="1"/>
              <a:t>Copper straight-through</a:t>
            </a:r>
            <a:r>
              <a:rPr lang="en-US" sz="2400"/>
              <a:t>: This is a standard Ethernet cable that is used to connect two devices that operate in different layers of the OSI model (such as hub to router and switch to PC). It can be used with Ethernet, Fast Ethernet and Gigabit Ethernet port types.</a:t>
            </a:r>
            <a:endParaRPr lang="en-IN" sz="2400"/>
          </a:p>
          <a:p>
            <a:pPr>
              <a:spcBef>
                <a:spcPts val="600"/>
              </a:spcBef>
              <a:spcAft>
                <a:spcPts val="600"/>
              </a:spcAft>
            </a:pPr>
            <a:r>
              <a:rPr lang="en-US" sz="2400" b="1"/>
              <a:t>Copper cross-over</a:t>
            </a:r>
            <a:r>
              <a:rPr lang="en-US" sz="2400"/>
              <a:t>: This Ethernet cable connects devices operating in the same OSI layer (such as hub to hub, PC to PC, PC to router, and PC to printer). This cable can also be used with Ethernet, Fast Ethernet and Gigabit Ethernet port types.</a:t>
            </a:r>
          </a:p>
          <a:p>
            <a:pPr>
              <a:spcBef>
                <a:spcPts val="600"/>
              </a:spcBef>
              <a:spcAft>
                <a:spcPts val="600"/>
              </a:spcAft>
            </a:pPr>
            <a:r>
              <a:rPr lang="en-US" sz="2400" b="1"/>
              <a:t>Fiber</a:t>
            </a:r>
            <a:r>
              <a:rPr lang="en-US" sz="2400"/>
              <a:t>: This cable connects Fast Ethernet and Gigabit Ethernet ports of a fiber port. </a:t>
            </a:r>
          </a:p>
          <a:p>
            <a:pPr>
              <a:spcBef>
                <a:spcPts val="600"/>
              </a:spcBef>
              <a:spcAft>
                <a:spcPts val="600"/>
              </a:spcAft>
            </a:pPr>
            <a:r>
              <a:rPr lang="en-US" sz="2400" b="1"/>
              <a:t>Serial DCE and DTE</a:t>
            </a:r>
            <a:r>
              <a:rPr lang="en-US" sz="2400"/>
              <a:t>: Serial cables connect routers together and connect routers to the cloud. </a:t>
            </a:r>
            <a:endParaRPr lang="en-IN" sz="2400"/>
          </a:p>
          <a:p>
            <a:pPr lvl="1">
              <a:spcBef>
                <a:spcPts val="600"/>
              </a:spcBef>
              <a:spcAft>
                <a:spcPts val="600"/>
              </a:spcAft>
            </a:pPr>
            <a:r>
              <a:rPr lang="en-US" sz="2200"/>
              <a:t>The </a:t>
            </a:r>
            <a:r>
              <a:rPr lang="en-US" sz="2200" b="1"/>
              <a:t>DCE </a:t>
            </a:r>
            <a:r>
              <a:rPr lang="en-US" sz="2200"/>
              <a:t>(</a:t>
            </a:r>
            <a:r>
              <a:rPr lang="en-US" sz="2200" b="1"/>
              <a:t>Data Circuit-terminating Equipment</a:t>
            </a:r>
            <a:r>
              <a:rPr lang="en-US" sz="2200"/>
              <a:t>) end has a clock symbol on it. Clocking must be enabled on this end using the clock rate &lt;300-4000000&gt; command to bring the line protocol up. If Serial </a:t>
            </a:r>
            <a:r>
              <a:rPr lang="en-US" sz="2200" b="1"/>
              <a:t>DTE </a:t>
            </a:r>
            <a:r>
              <a:rPr lang="en-US" sz="2200"/>
              <a:t>(</a:t>
            </a:r>
            <a:r>
              <a:rPr lang="en-US" sz="2200" b="1"/>
              <a:t>Data Terminal Equipment</a:t>
            </a:r>
            <a:r>
              <a:rPr lang="en-US" sz="2200"/>
              <a:t>) is chosen, the first device connected with this cable will be the DTE end and next device will be the DCE end. </a:t>
            </a:r>
          </a:p>
          <a:p>
            <a:pPr>
              <a:spcBef>
                <a:spcPts val="600"/>
              </a:spcBef>
              <a:spcAft>
                <a:spcPts val="600"/>
              </a:spcAft>
            </a:pPr>
            <a:endParaRPr lang="en-US" sz="2400"/>
          </a:p>
          <a:p>
            <a:pPr>
              <a:spcBef>
                <a:spcPts val="600"/>
              </a:spcBef>
              <a:spcAft>
                <a:spcPts val="600"/>
              </a:spcAft>
            </a:pPr>
            <a:endParaRPr lang="en-US" sz="2400"/>
          </a:p>
          <a:p>
            <a:pPr>
              <a:spcBef>
                <a:spcPts val="600"/>
              </a:spcBef>
              <a:spcAft>
                <a:spcPts val="600"/>
              </a:spcAft>
            </a:pPr>
            <a:endParaRPr lang="en-US"/>
          </a:p>
          <a:p>
            <a:pPr>
              <a:spcBef>
                <a:spcPts val="600"/>
              </a:spcBef>
              <a:spcAft>
                <a:spcPts val="600"/>
              </a:spcAft>
            </a:pPr>
            <a:endParaRPr lang="en-IN"/>
          </a:p>
        </p:txBody>
      </p:sp>
    </p:spTree>
    <p:extLst>
      <p:ext uri="{BB962C8B-B14F-4D97-AF65-F5344CB8AC3E}">
        <p14:creationId xmlns:p14="http://schemas.microsoft.com/office/powerpoint/2010/main" val="1392347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7" ma:contentTypeDescription="Create a new document." ma:contentTypeScope="" ma:versionID="2bc563b4ce31964ec6dd1b1486630366">
  <xsd:schema xmlns:xsd="http://www.w3.org/2001/XMLSchema" xmlns:xs="http://www.w3.org/2001/XMLSchema" xmlns:p="http://schemas.microsoft.com/office/2006/metadata/properties" xmlns:ns2="edc90921-6836-4a7a-a96f-40c69ed4e8a8" targetNamespace="http://schemas.microsoft.com/office/2006/metadata/properties" ma:root="true" ma:fieldsID="848b9dac1e4877d2b4bbaad58a926678"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9A1E68-965F-432A-A598-06088EC7EF8C}">
  <ds:schemaRefs>
    <ds:schemaRef ds:uri="http://schemas.microsoft.com/sharepoint/v3/contenttype/forms"/>
  </ds:schemaRefs>
</ds:datastoreItem>
</file>

<file path=customXml/itemProps2.xml><?xml version="1.0" encoding="utf-8"?>
<ds:datastoreItem xmlns:ds="http://schemas.openxmlformats.org/officeDocument/2006/customXml" ds:itemID="{33751447-7B4D-456C-9B68-7BB5A3C3A28E}">
  <ds:schemaRefs>
    <ds:schemaRef ds:uri="edc90921-6836-4a7a-a96f-40c69ed4e8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FD9BC68-DDB9-420E-BE98-0C304548A352}">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Introduction</vt:lpstr>
      <vt:lpstr>Interface overview</vt:lpstr>
      <vt:lpstr>Contd..</vt:lpstr>
      <vt:lpstr>Packet Tracer Modes</vt:lpstr>
      <vt:lpstr>Protocols supported:</vt:lpstr>
      <vt:lpstr>Cisco devices and Packet Tracer devices</vt:lpstr>
      <vt:lpstr>Contd..</vt:lpstr>
      <vt:lpstr>PowerPoint Presentation</vt:lpstr>
      <vt:lpstr>Connecting devices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No. 8</dc:title>
  <dc:creator>mahe</dc:creator>
  <cp:revision>7</cp:revision>
  <dcterms:created xsi:type="dcterms:W3CDTF">2020-12-11T06:02:26Z</dcterms:created>
  <dcterms:modified xsi:type="dcterms:W3CDTF">2026-04-06T13:29:54Z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